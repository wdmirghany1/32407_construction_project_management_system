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2844B-8D43-4A95-AA21-817C00643A18}" v="23" dt="2026-07-14T20:25:08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ad ali" userId="648861b9d9fd7120" providerId="LiveId" clId="{B567159E-1E13-4BA8-AA0F-971A0046DBA0}"/>
    <pc:docChg chg="addSld delSld modSld">
      <pc:chgData name="mohanad ali" userId="648861b9d9fd7120" providerId="LiveId" clId="{B567159E-1E13-4BA8-AA0F-971A0046DBA0}" dt="2026-07-14T20:25:08.604" v="26"/>
      <pc:docMkLst>
        <pc:docMk/>
      </pc:docMkLst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534990840" sldId="256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534990840" sldId="256"/>
            <ac:spMk id="3" creationId="{61F6975C-FF64-1D30-D62D-667DAC2E7150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842577471" sldId="257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842577471" sldId="257"/>
            <ac:spMk id="3" creationId="{F3A23670-20A7-B6B9-8797-A8EEA254CB22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3886805431" sldId="258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3886805431" sldId="258"/>
            <ac:spMk id="3" creationId="{63646CFC-5BBE-B964-87BC-FD6292CC3B29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100027307" sldId="259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100027307" sldId="259"/>
            <ac:spMk id="3" creationId="{DC835BFB-327B-DDFE-2BD6-F8A93D59B84A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660652113" sldId="260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660652113" sldId="260"/>
            <ac:spMk id="3" creationId="{649C267E-244E-5B87-BD34-82A3D3374D97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2259504840" sldId="261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2259504840" sldId="261"/>
            <ac:spMk id="3" creationId="{E70029A8-CA4F-4CCA-8B51-43C8E38608FA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336231755" sldId="262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336231755" sldId="262"/>
            <ac:spMk id="3" creationId="{EBC06B7D-0395-9332-1DC2-D3668E728621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495270721" sldId="263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495270721" sldId="263"/>
            <ac:spMk id="3" creationId="{05FF7672-9945-4168-615E-116E222D6054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063598584" sldId="264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063598584" sldId="264"/>
            <ac:spMk id="3" creationId="{6246C5B1-34BB-CA90-A579-51C22E16273B}"/>
          </ac:spMkLst>
        </pc:spChg>
      </pc:sldChg>
      <pc:sldChg chg="modSp modTransition">
        <pc:chgData name="mohanad ali" userId="648861b9d9fd7120" providerId="LiveId" clId="{B567159E-1E13-4BA8-AA0F-971A0046DBA0}" dt="2026-07-14T20:25:08.604" v="26"/>
        <pc:sldMkLst>
          <pc:docMk/>
          <pc:sldMk cId="1066683983" sldId="265"/>
        </pc:sldMkLst>
        <pc:spChg chg="mod">
          <ac:chgData name="mohanad ali" userId="648861b9d9fd7120" providerId="LiveId" clId="{B567159E-1E13-4BA8-AA0F-971A0046DBA0}" dt="2026-07-14T20:25:08.604" v="26"/>
          <ac:spMkLst>
            <pc:docMk/>
            <pc:sldMk cId="1066683983" sldId="265"/>
            <ac:spMk id="3" creationId="{E7F3A997-3415-93F1-D651-E2B8E6010CF9}"/>
          </ac:spMkLst>
        </pc:spChg>
      </pc:sldChg>
      <pc:sldChg chg="new del">
        <pc:chgData name="mohanad ali" userId="648861b9d9fd7120" providerId="LiveId" clId="{B567159E-1E13-4BA8-AA0F-971A0046DBA0}" dt="2026-07-14T20:21:07.236" v="2" actId="47"/>
        <pc:sldMkLst>
          <pc:docMk/>
          <pc:sldMk cId="432430054" sldId="266"/>
        </pc:sldMkLst>
      </pc:sldChg>
      <pc:sldChg chg="new del">
        <pc:chgData name="mohanad ali" userId="648861b9d9fd7120" providerId="LiveId" clId="{B567159E-1E13-4BA8-AA0F-971A0046DBA0}" dt="2026-07-14T20:23:30.846" v="14" actId="47"/>
        <pc:sldMkLst>
          <pc:docMk/>
          <pc:sldMk cId="58773116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9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6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2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06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83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0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9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5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21E7A-2198-4F84-AADB-06974B2DF769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8E5AA-3FC7-43D7-95D4-FC9BBCE84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9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6975C-FF64-1D30-D62D-667DAC2E7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5C631-83C7-0F18-12BC-0874B7DCB3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B664D-B1DE-F7CA-343B-0351BA5CDC3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1D7D05-9D45-8398-178D-D0748B1D7D29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48F30-9F11-5B02-3D16-AF6F6B45AB80}"/>
              </a:ext>
            </a:extLst>
          </p:cNvPr>
          <p:cNvSpPr txBox="1"/>
          <p:nvPr/>
        </p:nvSpPr>
        <p:spPr>
          <a:xfrm>
            <a:off x="1016000" y="1270000"/>
            <a:ext cx="762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 dirty="0">
                <a:solidFill>
                  <a:srgbClr val="DCDCE1"/>
                </a:solidFill>
                <a:latin typeface="Segoe UI" panose="020B0502040204020203" pitchFamily="34" charset="0"/>
              </a:rPr>
              <a:t>CONSTRUCTION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8B762-74BF-8319-7871-16B51E5BBDBA}"/>
              </a:ext>
            </a:extLst>
          </p:cNvPr>
          <p:cNvSpPr txBox="1"/>
          <p:nvPr/>
        </p:nvSpPr>
        <p:spPr>
          <a:xfrm>
            <a:off x="1016000" y="1905000"/>
            <a:ext cx="762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>
                <a:solidFill>
                  <a:srgbClr val="D4AF37"/>
                </a:solidFill>
                <a:latin typeface="Segoe UI" panose="020B0502040204020203" pitchFamily="34" charset="0"/>
              </a:rPr>
              <a:t>MANAGEMENT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0DF32-F912-8548-103D-FA709F4EAD77}"/>
              </a:ext>
            </a:extLst>
          </p:cNvPr>
          <p:cNvSpPr/>
          <p:nvPr/>
        </p:nvSpPr>
        <p:spPr>
          <a:xfrm>
            <a:off x="1016000" y="2794000"/>
            <a:ext cx="1016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C6626-00DD-8DA1-C2C3-BF2D958910B0}"/>
              </a:ext>
            </a:extLst>
          </p:cNvPr>
          <p:cNvSpPr txBox="1"/>
          <p:nvPr/>
        </p:nvSpPr>
        <p:spPr>
          <a:xfrm>
            <a:off x="1016000" y="31115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D2B982"/>
                </a:solidFill>
                <a:latin typeface="Segoe UI" panose="020B0502040204020203" pitchFamily="34" charset="0"/>
              </a:rPr>
              <a:t>Oracle Database Solution for Resource Auditing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9FAC1-6001-A9A3-260C-7C23D9E7B475}"/>
              </a:ext>
            </a:extLst>
          </p:cNvPr>
          <p:cNvSpPr txBox="1"/>
          <p:nvPr/>
        </p:nvSpPr>
        <p:spPr>
          <a:xfrm>
            <a:off x="1016000" y="3429000"/>
            <a:ext cx="762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D2B982"/>
                </a:solidFill>
                <a:latin typeface="Segoe UI" panose="020B0502040204020203" pitchFamily="34" charset="0"/>
              </a:rPr>
              <a:t>Site Logistics &amp; Business Intelligence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47E287-B40D-D23C-89C3-DF83F29E4AC8}"/>
              </a:ext>
            </a:extLst>
          </p:cNvPr>
          <p:cNvSpPr txBox="1"/>
          <p:nvPr/>
        </p:nvSpPr>
        <p:spPr>
          <a:xfrm>
            <a:off x="1016000" y="4318000"/>
            <a:ext cx="7366000" cy="14927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968C6E"/>
                </a:solidFill>
                <a:latin typeface="Segoe UI" panose="020B0502040204020203" pitchFamily="34" charset="0"/>
              </a:rPr>
              <a:t>University of Lay Adventists of Kigali (UNILAK)
Faculty of Computing and Information Sciences
DPR400210 - Database Programming (Capstone Project)
MOHANAD MIRGHANI ALI  |  ID: 32407
Schema: CONSTRUCTION_32407
Instructor: Eric Maniraguha  |  2025-2026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47D5D6-DF8A-1799-FA14-C153254480E6}"/>
              </a:ext>
            </a:extLst>
          </p:cNvPr>
          <p:cNvSpPr/>
          <p:nvPr/>
        </p:nvSpPr>
        <p:spPr>
          <a:xfrm>
            <a:off x="8890000" y="0"/>
            <a:ext cx="3302000" cy="6858000"/>
          </a:xfrm>
          <a:prstGeom prst="rect">
            <a:avLst/>
          </a:prstGeom>
          <a:solidFill>
            <a:srgbClr val="0A20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7789B6-1C04-892A-3ED9-6675481E8944}"/>
              </a:ext>
            </a:extLst>
          </p:cNvPr>
          <p:cNvSpPr/>
          <p:nvPr/>
        </p:nvSpPr>
        <p:spPr>
          <a:xfrm>
            <a:off x="8890000" y="1016000"/>
            <a:ext cx="3302000" cy="127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EC625-0EDB-D346-B66C-9AE0D5045819}"/>
              </a:ext>
            </a:extLst>
          </p:cNvPr>
          <p:cNvSpPr txBox="1"/>
          <p:nvPr/>
        </p:nvSpPr>
        <p:spPr>
          <a:xfrm>
            <a:off x="9144000" y="1270000"/>
            <a:ext cx="279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6000" b="1">
                <a:solidFill>
                  <a:srgbClr val="D4AF37"/>
                </a:solidFill>
                <a:latin typeface="Segoe UI" panose="020B0502040204020203" pitchFamily="34" charset="0"/>
              </a:rPr>
              <a:t>CPMS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812C52-C781-887E-5BB9-1F914B03E68F}"/>
              </a:ext>
            </a:extLst>
          </p:cNvPr>
          <p:cNvSpPr txBox="1"/>
          <p:nvPr/>
        </p:nvSpPr>
        <p:spPr>
          <a:xfrm>
            <a:off x="9144000" y="1968500"/>
            <a:ext cx="27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68C6E"/>
                </a:solidFill>
                <a:latin typeface="Segoe UI" panose="020B0502040204020203" pitchFamily="34" charset="0"/>
              </a:rPr>
              <a:t>Construction Project Management 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B104E2-9EE9-6735-9364-6C4ED3C7682A}"/>
              </a:ext>
            </a:extLst>
          </p:cNvPr>
          <p:cNvSpPr/>
          <p:nvPr/>
        </p:nvSpPr>
        <p:spPr>
          <a:xfrm>
            <a:off x="0" y="6832600"/>
            <a:ext cx="121920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908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A23670-20A7-B6B9-8797-A8EEA254C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847CE-B521-0D32-BF21-F172EE5767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E7730-5E74-9B3F-2584-095D50285345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01DED-225D-369A-EE71-2DE782326477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335A0-6C77-A9B3-7AAD-AC404B387DF9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PROBLEM STATEMENT &amp;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AA66F8-3F77-7337-B372-7F4ABC14B3E4}"/>
              </a:ext>
            </a:extLst>
          </p:cNvPr>
          <p:cNvSpPr/>
          <p:nvPr/>
        </p:nvSpPr>
        <p:spPr>
          <a:xfrm>
            <a:off x="508000" y="1079500"/>
            <a:ext cx="5334000" cy="2667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93BBFD-BC22-15BF-8053-BBD7E2F602A0}"/>
              </a:ext>
            </a:extLst>
          </p:cNvPr>
          <p:cNvSpPr/>
          <p:nvPr/>
        </p:nvSpPr>
        <p:spPr>
          <a:xfrm>
            <a:off x="508000" y="10795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04575-8418-DFC5-A580-78EDF6054523}"/>
              </a:ext>
            </a:extLst>
          </p:cNvPr>
          <p:cNvSpPr txBox="1"/>
          <p:nvPr/>
        </p:nvSpPr>
        <p:spPr>
          <a:xfrm>
            <a:off x="698500" y="1270000"/>
            <a:ext cx="4953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DCDCE1"/>
                </a:solidFill>
                <a:latin typeface="Segoe UI" panose="020B0502040204020203" pitchFamily="34" charset="0"/>
              </a:rPr>
              <a:t>THE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2E5CA6-07AF-0523-A8CB-66EEB0517668}"/>
              </a:ext>
            </a:extLst>
          </p:cNvPr>
          <p:cNvSpPr txBox="1"/>
          <p:nvPr/>
        </p:nvSpPr>
        <p:spPr>
          <a:xfrm>
            <a:off x="698500" y="1714500"/>
            <a:ext cx="4953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D2B982"/>
                </a:solidFill>
                <a:latin typeface="Segoe UI" panose="020B0502040204020203" pitchFamily="34" charset="0"/>
              </a:rPr>
              <a:t>Construction firms suffer from operational bottlenecks, 
resource double-allocation, and financial tracking errors
due to fragmented, manual administrative workflows.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E3D9D-B3E2-AADD-3FA6-88C05CCA0779}"/>
              </a:ext>
            </a:extLst>
          </p:cNvPr>
          <p:cNvSpPr/>
          <p:nvPr/>
        </p:nvSpPr>
        <p:spPr>
          <a:xfrm>
            <a:off x="508000" y="3937000"/>
            <a:ext cx="5334000" cy="1270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A6D649-4D5E-828E-C515-AAB0FEC8A781}"/>
              </a:ext>
            </a:extLst>
          </p:cNvPr>
          <p:cNvSpPr/>
          <p:nvPr/>
        </p:nvSpPr>
        <p:spPr>
          <a:xfrm>
            <a:off x="508000" y="3937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654B8-3818-6CDF-AEF7-44B117EF9623}"/>
              </a:ext>
            </a:extLst>
          </p:cNvPr>
          <p:cNvSpPr txBox="1"/>
          <p:nvPr/>
        </p:nvSpPr>
        <p:spPr>
          <a:xfrm>
            <a:off x="698500" y="4127500"/>
            <a:ext cx="495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TARGET USERS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02378-CD6A-220A-92D1-4AA6FD822588}"/>
              </a:ext>
            </a:extLst>
          </p:cNvPr>
          <p:cNvSpPr txBox="1"/>
          <p:nvPr/>
        </p:nvSpPr>
        <p:spPr>
          <a:xfrm>
            <a:off x="698500" y="4445000"/>
            <a:ext cx="495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Project Managers / Site Engineers / Accountants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0ED010-CACA-ACF0-4116-0CF936210BEF}"/>
              </a:ext>
            </a:extLst>
          </p:cNvPr>
          <p:cNvSpPr/>
          <p:nvPr/>
        </p:nvSpPr>
        <p:spPr>
          <a:xfrm>
            <a:off x="6350000" y="1079500"/>
            <a:ext cx="5334000" cy="2667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1EE4D-CE85-95F8-4056-244811C3A8E2}"/>
              </a:ext>
            </a:extLst>
          </p:cNvPr>
          <p:cNvSpPr/>
          <p:nvPr/>
        </p:nvSpPr>
        <p:spPr>
          <a:xfrm>
            <a:off x="6350000" y="10795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77DB31-B89E-98EC-EBB3-CB14BE006595}"/>
              </a:ext>
            </a:extLst>
          </p:cNvPr>
          <p:cNvSpPr txBox="1"/>
          <p:nvPr/>
        </p:nvSpPr>
        <p:spPr>
          <a:xfrm>
            <a:off x="6540500" y="1270000"/>
            <a:ext cx="4953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DCDCE1"/>
                </a:solidFill>
                <a:latin typeface="Segoe UI" panose="020B0502040204020203" pitchFamily="34" charset="0"/>
              </a:rPr>
              <a:t>OBJECTIVES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12AA0D-C326-B393-ACA7-608C455B62A9}"/>
              </a:ext>
            </a:extLst>
          </p:cNvPr>
          <p:cNvSpPr txBox="1"/>
          <p:nvPr/>
        </p:nvSpPr>
        <p:spPr>
          <a:xfrm>
            <a:off x="6540500" y="1714500"/>
            <a:ext cx="4953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1. Centralize operations mapping site tasks to contracts
2. Enforce validations preventing budget overruns
3. Guarantee data preservation via automated triggers
4. Provide real-time BI through Power BI 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E62F56-F8A0-B909-DB34-3A2D9EB0E80A}"/>
              </a:ext>
            </a:extLst>
          </p:cNvPr>
          <p:cNvSpPr/>
          <p:nvPr/>
        </p:nvSpPr>
        <p:spPr>
          <a:xfrm>
            <a:off x="6350000" y="3937000"/>
            <a:ext cx="5334000" cy="1270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4ED02A-303D-3227-7F8D-33E0854B7D90}"/>
              </a:ext>
            </a:extLst>
          </p:cNvPr>
          <p:cNvSpPr/>
          <p:nvPr/>
        </p:nvSpPr>
        <p:spPr>
          <a:xfrm>
            <a:off x="6350000" y="3937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B4F0C7-63CF-3E67-0C86-338E2D538484}"/>
              </a:ext>
            </a:extLst>
          </p:cNvPr>
          <p:cNvSpPr txBox="1"/>
          <p:nvPr/>
        </p:nvSpPr>
        <p:spPr>
          <a:xfrm>
            <a:off x="6540500" y="4127500"/>
            <a:ext cx="495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EXPECTED BENEFITS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E33919-3A04-161D-1102-7235F7962AEA}"/>
              </a:ext>
            </a:extLst>
          </p:cNvPr>
          <p:cNvSpPr txBox="1"/>
          <p:nvPr/>
        </p:nvSpPr>
        <p:spPr>
          <a:xfrm>
            <a:off x="6540500" y="4445000"/>
            <a:ext cx="495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3NF Normalization / Real-time Reporting / Audit Trails</a:t>
            </a:r>
          </a:p>
        </p:txBody>
      </p:sp>
    </p:spTree>
    <p:extLst>
      <p:ext uri="{BB962C8B-B14F-4D97-AF65-F5344CB8AC3E}">
        <p14:creationId xmlns:p14="http://schemas.microsoft.com/office/powerpoint/2010/main" val="8425774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646CFC-5BBE-B964-87BC-FD6292CC3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D777D6-1F54-3691-EC11-8B5A77AB04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F1DDB-68C5-16C1-154E-C539DF06F24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61E86-BCC0-8536-9451-F77BC21D0C45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53935-DA66-59B5-88E3-5FEBB46F241A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BUSINESS PROCESS MODELING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674D18-0738-6767-85D5-28FFD364A3F7}"/>
              </a:ext>
            </a:extLst>
          </p:cNvPr>
          <p:cNvSpPr/>
          <p:nvPr/>
        </p:nvSpPr>
        <p:spPr>
          <a:xfrm>
            <a:off x="508000" y="1079500"/>
            <a:ext cx="3937000" cy="1905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A6DBD-6A75-A21A-1656-2ADE6F147EE1}"/>
              </a:ext>
            </a:extLst>
          </p:cNvPr>
          <p:cNvSpPr/>
          <p:nvPr/>
        </p:nvSpPr>
        <p:spPr>
          <a:xfrm>
            <a:off x="508000" y="1079500"/>
            <a:ext cx="3937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AB8BDC-9A7A-1436-5BA5-0CDCF4002567}"/>
              </a:ext>
            </a:extLst>
          </p:cNvPr>
          <p:cNvSpPr txBox="1"/>
          <p:nvPr/>
        </p:nvSpPr>
        <p:spPr>
          <a:xfrm>
            <a:off x="698500" y="1270000"/>
            <a:ext cx="355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61D4D-E8D4-6B42-EDF8-7B91D39DAEA6}"/>
              </a:ext>
            </a:extLst>
          </p:cNvPr>
          <p:cNvSpPr txBox="1"/>
          <p:nvPr/>
        </p:nvSpPr>
        <p:spPr>
          <a:xfrm>
            <a:off x="698500" y="1651000"/>
            <a:ext cx="3556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Full lifecycle: contract signing, engineer/worker
deployment, material procurement, equipment
allocation, milestone payments, project completion.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78B1C1-44ED-5B76-9102-5A17EE85F874}"/>
              </a:ext>
            </a:extLst>
          </p:cNvPr>
          <p:cNvSpPr/>
          <p:nvPr/>
        </p:nvSpPr>
        <p:spPr>
          <a:xfrm>
            <a:off x="508000" y="3111500"/>
            <a:ext cx="3937000" cy="1524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81A436-DF86-F672-6455-FEE5DC62CB0F}"/>
              </a:ext>
            </a:extLst>
          </p:cNvPr>
          <p:cNvSpPr/>
          <p:nvPr/>
        </p:nvSpPr>
        <p:spPr>
          <a:xfrm>
            <a:off x="508000" y="3111500"/>
            <a:ext cx="3937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B69EB3-F10D-FBC2-8D5B-7A689C9F88C7}"/>
              </a:ext>
            </a:extLst>
          </p:cNvPr>
          <p:cNvSpPr txBox="1"/>
          <p:nvPr/>
        </p:nvSpPr>
        <p:spPr>
          <a:xfrm>
            <a:off x="698500" y="3302000"/>
            <a:ext cx="3556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PROCESS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F3716-FF40-9357-2735-61AF3C915C7F}"/>
              </a:ext>
            </a:extLst>
          </p:cNvPr>
          <p:cNvSpPr txBox="1"/>
          <p:nvPr/>
        </p:nvSpPr>
        <p:spPr>
          <a:xfrm>
            <a:off x="698500" y="3683000"/>
            <a:ext cx="355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Multi-swimlane: Client, Project Manager,
Site Engineer, Accountant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CD566D-DD6B-BB6D-21F6-150BF128BB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1079500"/>
            <a:ext cx="71120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0543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835BFB-327B-DDFE-2BD6-F8A93D59B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8EC22-CEDA-7AEB-3C06-625B3A4B17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75087-859D-5D27-840D-BB758F6A6F0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F3F63-AF95-4ECC-4FFC-544DCD4D3218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D760C9-5B56-960D-717F-D3D955F4883A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DATABASE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E1AD4-E685-5583-7465-35E3F6EAE616}"/>
              </a:ext>
            </a:extLst>
          </p:cNvPr>
          <p:cNvSpPr/>
          <p:nvPr/>
        </p:nvSpPr>
        <p:spPr>
          <a:xfrm>
            <a:off x="508000" y="1079500"/>
            <a:ext cx="2794000" cy="5334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B8CD83-6899-F8DE-1BB0-20BEBCA227E3}"/>
              </a:ext>
            </a:extLst>
          </p:cNvPr>
          <p:cNvSpPr/>
          <p:nvPr/>
        </p:nvSpPr>
        <p:spPr>
          <a:xfrm>
            <a:off x="508000" y="1079500"/>
            <a:ext cx="279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119B3-B66F-1136-E771-2B7D88CF1FF0}"/>
              </a:ext>
            </a:extLst>
          </p:cNvPr>
          <p:cNvSpPr txBox="1"/>
          <p:nvPr/>
        </p:nvSpPr>
        <p:spPr>
          <a:xfrm>
            <a:off x="698500" y="1270000"/>
            <a:ext cx="241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ENTITIES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87EDF4-E298-7764-1891-7898E964352D}"/>
              </a:ext>
            </a:extLst>
          </p:cNvPr>
          <p:cNvSpPr txBox="1"/>
          <p:nvPr/>
        </p:nvSpPr>
        <p:spPr>
          <a:xfrm>
            <a:off x="698500" y="1651000"/>
            <a:ext cx="2413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Client (PK)
Project (PK, FK)
Engineer (PK, FK)
Worker (PK, FK)
Supplier (PK)
Material (PK, 2 FK)
Equipment (PK, FK)
Payment (PK, FK)
Public_Holidays
Audit_Log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0E48A2-AA3D-C093-E8E8-5E441B4B15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1079500"/>
            <a:ext cx="8255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2730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9C267E-244E-5B87-BD34-82A3D3374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DAF983-1C10-DCFF-580B-6459C5C638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1CB4B-E6C3-71E8-A58D-568C61B1F64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9E511-4BE0-CF6C-DF73-7385A6816674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37E61-E514-7C6A-5911-E214DAF134B0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DATABASE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290755-EE72-0B89-DBA0-62072F26C3F8}"/>
              </a:ext>
            </a:extLst>
          </p:cNvPr>
          <p:cNvSpPr/>
          <p:nvPr/>
        </p:nvSpPr>
        <p:spPr>
          <a:xfrm>
            <a:off x="508000" y="1079500"/>
            <a:ext cx="5334000" cy="1270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B179A8-0BC4-2CE0-2441-249055E1A109}"/>
              </a:ext>
            </a:extLst>
          </p:cNvPr>
          <p:cNvSpPr/>
          <p:nvPr/>
        </p:nvSpPr>
        <p:spPr>
          <a:xfrm>
            <a:off x="508000" y="10795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3489D9-C5A3-9DBD-EF4C-DCFA2EFA1EE4}"/>
              </a:ext>
            </a:extLst>
          </p:cNvPr>
          <p:cNvSpPr txBox="1"/>
          <p:nvPr/>
        </p:nvSpPr>
        <p:spPr>
          <a:xfrm>
            <a:off x="698500" y="1270000"/>
            <a:ext cx="495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SCHEMA &amp; TABLES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6939C-9C44-D097-86CA-FD257880B80E}"/>
              </a:ext>
            </a:extLst>
          </p:cNvPr>
          <p:cNvSpPr txBox="1"/>
          <p:nvPr/>
        </p:nvSpPr>
        <p:spPr>
          <a:xfrm>
            <a:off x="698500" y="16510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CONSTRUCTION_32407 with 10 tables, 7 FOREIGN KEY constraints enforcing referential integrity.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76089A-C70B-6274-43BC-4F1FDECD74C1}"/>
              </a:ext>
            </a:extLst>
          </p:cNvPr>
          <p:cNvSpPr/>
          <p:nvPr/>
        </p:nvSpPr>
        <p:spPr>
          <a:xfrm>
            <a:off x="508000" y="2540000"/>
            <a:ext cx="5334000" cy="3048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C13540-F288-0AC8-199F-BE561A2DA300}"/>
              </a:ext>
            </a:extLst>
          </p:cNvPr>
          <p:cNvSpPr/>
          <p:nvPr/>
        </p:nvSpPr>
        <p:spPr>
          <a:xfrm>
            <a:off x="508000" y="2540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CA7E7-E1B7-370C-08CF-98F4E2B791C1}"/>
              </a:ext>
            </a:extLst>
          </p:cNvPr>
          <p:cNvSpPr txBox="1"/>
          <p:nvPr/>
        </p:nvSpPr>
        <p:spPr>
          <a:xfrm>
            <a:off x="698500" y="27305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10 TABLES CREATED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46E29-5D36-95A0-5AF0-B52A3B72C077}"/>
              </a:ext>
            </a:extLst>
          </p:cNvPr>
          <p:cNvSpPr txBox="1"/>
          <p:nvPr/>
        </p:nvSpPr>
        <p:spPr>
          <a:xfrm>
            <a:off x="698500" y="3048000"/>
            <a:ext cx="4953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Client -&gt; Project -&gt; Engineer
Worker -&gt; Supplier -&gt; Material
Equipment -&gt; Payment
Public_Holidays -&gt; Audit_Log
All with PRIMARY KEY, FOREIGN KEY,
NOT NULL, and UNIQUE constraints.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33B2CF-6CA5-49C5-6533-7057084D9D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79500"/>
            <a:ext cx="5715000" cy="2667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E2340C-25D5-53F2-7905-372E6DF369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7000"/>
            <a:ext cx="5715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5211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0029A8-CA4F-4CCA-8B51-43C8E38608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C3FD8-933A-41DD-41C2-56438E9DE6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6B9432-FDB1-C532-DE27-750FF2C453C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967D29-8E77-6AC7-9257-900E194A58EF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F6591-1F7F-2B84-7AEF-AC16F6075BC2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SQL QUERIES &amp; DATA SEEDING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458570-7DF0-3B4A-2D04-1BA43117B3DB}"/>
              </a:ext>
            </a:extLst>
          </p:cNvPr>
          <p:cNvSpPr/>
          <p:nvPr/>
        </p:nvSpPr>
        <p:spPr>
          <a:xfrm>
            <a:off x="508000" y="1016000"/>
            <a:ext cx="11176000" cy="4445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7F86B-69AC-CBAF-A641-E734F793D045}"/>
              </a:ext>
            </a:extLst>
          </p:cNvPr>
          <p:cNvSpPr txBox="1"/>
          <p:nvPr/>
        </p:nvSpPr>
        <p:spPr>
          <a:xfrm>
            <a:off x="698500" y="10922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Sample data: Rwandan enterprise records (ABC Construction, Rwanda Building Supplies)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203ACC-E869-4A53-AAED-2C2A99E610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87500"/>
            <a:ext cx="3556000" cy="1651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08EAE-257A-BDF6-B5EA-2BDF58E971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1587500"/>
            <a:ext cx="3556000" cy="165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E4AF25-9AC2-0307-663F-976D94B62E3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1587500"/>
            <a:ext cx="3556000" cy="1651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07B1B0-D933-C169-E7C3-E517E544C671}"/>
              </a:ext>
            </a:extLst>
          </p:cNvPr>
          <p:cNvSpPr/>
          <p:nvPr/>
        </p:nvSpPr>
        <p:spPr>
          <a:xfrm>
            <a:off x="508000" y="3429000"/>
            <a:ext cx="11176000" cy="4445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D7590-7C01-32C5-C7D4-F722CF056904}"/>
              </a:ext>
            </a:extLst>
          </p:cNvPr>
          <p:cNvSpPr txBox="1"/>
          <p:nvPr/>
        </p:nvSpPr>
        <p:spPr>
          <a:xfrm>
            <a:off x="698500" y="35052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D2B982"/>
                </a:solidFill>
                <a:latin typeface="Segoe UI" panose="020B0502040204020203" pitchFamily="34" charset="0"/>
              </a:rPr>
              <a:t>SQL: JOINs, SUM, COUNT, WHERE filtering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19B324-5CB3-35C5-BF8C-3867C54B8BC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000500"/>
            <a:ext cx="3556000" cy="254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7E392CB-24BB-2550-38F3-7FE0A247150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4000500"/>
            <a:ext cx="3556000" cy="25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D9CC94-840D-6DBC-AC61-C1C8F433EFFA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4000500"/>
            <a:ext cx="3556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0484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C06B7D-0395-9332-1DC2-D3668E728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0421A-D35D-E1FD-9D0F-2F1FAA4BC0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7F040-E797-D92B-0CF5-83C000779E3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CC0A8-E57F-03BE-956D-2FC70E873998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7F434-20F9-2E32-8BC3-F386C70CA4BC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PL/SQL PROGRAMMING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4A99B-84B4-4C06-972A-672572FDF0AB}"/>
              </a:ext>
            </a:extLst>
          </p:cNvPr>
          <p:cNvSpPr/>
          <p:nvPr/>
        </p:nvSpPr>
        <p:spPr>
          <a:xfrm>
            <a:off x="508000" y="1016000"/>
            <a:ext cx="5334000" cy="2921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BD4BBB-4057-FDE9-AA10-4BA79DFF41F6}"/>
              </a:ext>
            </a:extLst>
          </p:cNvPr>
          <p:cNvSpPr/>
          <p:nvPr/>
        </p:nvSpPr>
        <p:spPr>
          <a:xfrm>
            <a:off x="508000" y="1016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0CBB6D-ABD4-A4F9-7B58-995B20B59C1C}"/>
              </a:ext>
            </a:extLst>
          </p:cNvPr>
          <p:cNvSpPr txBox="1"/>
          <p:nvPr/>
        </p:nvSpPr>
        <p:spPr>
          <a:xfrm>
            <a:off x="698500" y="1206500"/>
            <a:ext cx="495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PROJECT_PACKAGE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0DD7B-FB2B-137E-7D3C-FDA537568DC6}"/>
              </a:ext>
            </a:extLst>
          </p:cNvPr>
          <p:cNvSpPr txBox="1"/>
          <p:nvPr/>
        </p:nvSpPr>
        <p:spPr>
          <a:xfrm>
            <a:off x="698500" y="1524000"/>
            <a:ext cx="4953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Add_Project procedure:
- Parameterized INSERT
- DUP_VAL_ON_INDEX exception
- WHEN OTHERS error handler
Get_Total_Payments function:
- Returns SUM(Amount) via NVL
- NULL-safe aggregation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C41235-3A26-9986-D7FE-C1303E26883D}"/>
              </a:ext>
            </a:extLst>
          </p:cNvPr>
          <p:cNvSpPr/>
          <p:nvPr/>
        </p:nvSpPr>
        <p:spPr>
          <a:xfrm>
            <a:off x="508000" y="4127500"/>
            <a:ext cx="5334000" cy="1016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BA87D8-D138-1E23-76C1-034F022A1CDB}"/>
              </a:ext>
            </a:extLst>
          </p:cNvPr>
          <p:cNvSpPr/>
          <p:nvPr/>
        </p:nvSpPr>
        <p:spPr>
          <a:xfrm>
            <a:off x="508000" y="41275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B4232-DC4D-968A-6453-885232E3C9FC}"/>
              </a:ext>
            </a:extLst>
          </p:cNvPr>
          <p:cNvSpPr txBox="1"/>
          <p:nvPr/>
        </p:nvSpPr>
        <p:spPr>
          <a:xfrm>
            <a:off x="698500" y="42926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CURSOR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B1AEC7-6DDA-B6C4-21C9-F987ABC977F5}"/>
              </a:ext>
            </a:extLst>
          </p:cNvPr>
          <p:cNvSpPr txBox="1"/>
          <p:nvPr/>
        </p:nvSpPr>
        <p:spPr>
          <a:xfrm>
            <a:off x="698500" y="45720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Project_Cursor loops through all projects, fetches ID/Name/Status, outputs via DBMS_OUTPUT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4556FF-5C25-805F-C161-E17763CC779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16000"/>
            <a:ext cx="5715000" cy="1333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FD4A652-4FAB-AF71-DEEE-A771A35B37A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715000" cy="1333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018E88-257A-C10B-315E-83EA360101A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7000"/>
            <a:ext cx="5715000" cy="127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F679FF9-E853-D74F-59B9-1750E833D9E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34000"/>
            <a:ext cx="57150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17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FF7672-9945-4168-615E-116E222D6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89E5D-4621-D148-CB9A-FBD7C6ED96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70622C-CCBC-7FB2-7FBF-4AA7868FD95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570CFB-0F69-11CA-5D44-2DC660F8C137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0A696-352E-1A1B-8742-92E597B4CDB8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TRIGGERS &amp; AUDIT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022D0-2108-CD79-C511-559973D265D2}"/>
              </a:ext>
            </a:extLst>
          </p:cNvPr>
          <p:cNvSpPr/>
          <p:nvPr/>
        </p:nvSpPr>
        <p:spPr>
          <a:xfrm>
            <a:off x="508000" y="1016000"/>
            <a:ext cx="5334000" cy="762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90E7F9-2258-9993-CF32-98A3C67AFF0D}"/>
              </a:ext>
            </a:extLst>
          </p:cNvPr>
          <p:cNvSpPr/>
          <p:nvPr/>
        </p:nvSpPr>
        <p:spPr>
          <a:xfrm>
            <a:off x="508000" y="1016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AF68D-6159-66B6-266F-563868C509E1}"/>
              </a:ext>
            </a:extLst>
          </p:cNvPr>
          <p:cNvSpPr txBox="1"/>
          <p:nvPr/>
        </p:nvSpPr>
        <p:spPr>
          <a:xfrm>
            <a:off x="698500" y="11811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SIMPLE TRIGGER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61E1B-2882-0CB9-9DB0-3CD7BE89A177}"/>
              </a:ext>
            </a:extLst>
          </p:cNvPr>
          <p:cNvSpPr txBox="1"/>
          <p:nvPr/>
        </p:nvSpPr>
        <p:spPr>
          <a:xfrm>
            <a:off x="698500" y="1460500"/>
            <a:ext cx="4953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TRG_PROJECT_AUDIT: AFTER INSERT logs user, action, timestamp to Audit_Log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5E037-EE01-A983-7279-6BD3CFFEB629}"/>
              </a:ext>
            </a:extLst>
          </p:cNvPr>
          <p:cNvSpPr/>
          <p:nvPr/>
        </p:nvSpPr>
        <p:spPr>
          <a:xfrm>
            <a:off x="508000" y="1879600"/>
            <a:ext cx="5334000" cy="762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C95450-BB46-97B0-9DA8-EDF8D86FC0DB}"/>
              </a:ext>
            </a:extLst>
          </p:cNvPr>
          <p:cNvSpPr/>
          <p:nvPr/>
        </p:nvSpPr>
        <p:spPr>
          <a:xfrm>
            <a:off x="508000" y="18796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D31C8-C2CD-A73B-AB9E-438D9CE28965}"/>
              </a:ext>
            </a:extLst>
          </p:cNvPr>
          <p:cNvSpPr txBox="1"/>
          <p:nvPr/>
        </p:nvSpPr>
        <p:spPr>
          <a:xfrm>
            <a:off x="698500" y="20447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COMPOUND TRIGGER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0D37DC-F86F-5146-FA88-C1F2E10A5EFC}"/>
              </a:ext>
            </a:extLst>
          </p:cNvPr>
          <p:cNvSpPr txBox="1"/>
          <p:nvPr/>
        </p:nvSpPr>
        <p:spPr>
          <a:xfrm>
            <a:off x="698500" y="23241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TRG_PROJECT_COMPOUND: INSERT/UPDATE/DELETE with BEFORE/AFTER 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99570-4491-AD0F-9E9B-7B24F0D85844}"/>
              </a:ext>
            </a:extLst>
          </p:cNvPr>
          <p:cNvSpPr/>
          <p:nvPr/>
        </p:nvSpPr>
        <p:spPr>
          <a:xfrm>
            <a:off x="508000" y="2743200"/>
            <a:ext cx="5334000" cy="762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2AC712-1489-8008-EFA4-A543DF758702}"/>
              </a:ext>
            </a:extLst>
          </p:cNvPr>
          <p:cNvSpPr/>
          <p:nvPr/>
        </p:nvSpPr>
        <p:spPr>
          <a:xfrm>
            <a:off x="508000" y="27432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A8EA9-9AF8-04A2-3096-B12C81E50985}"/>
              </a:ext>
            </a:extLst>
          </p:cNvPr>
          <p:cNvSpPr txBox="1"/>
          <p:nvPr/>
        </p:nvSpPr>
        <p:spPr>
          <a:xfrm>
            <a:off x="698500" y="29083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AUDIT SYSTEM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9AC3AF-0E7F-31CF-FA4B-6F8F915B7B52}"/>
              </a:ext>
            </a:extLst>
          </p:cNvPr>
          <p:cNvSpPr txBox="1"/>
          <p:nvPr/>
        </p:nvSpPr>
        <p:spPr>
          <a:xfrm>
            <a:off x="698500" y="3187700"/>
            <a:ext cx="4953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Audit_Log: Audit_ID, Username, Action_Type, Table_Name, Action_Date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7A63ED-9EB0-02BD-826B-9D9E48E3A2C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16000"/>
            <a:ext cx="5715000" cy="1206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AA0E14-6E49-78B0-28CF-7C7469FF3E2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49500"/>
            <a:ext cx="5715000" cy="12065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90CC78-FE6A-2577-0017-3363CB54CBA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83000"/>
            <a:ext cx="5715000" cy="1206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1DF3AF3-E8A4-2CCF-325D-DDB5A89F183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016500"/>
            <a:ext cx="57150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7072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46C5B1-34BB-CA90-A579-51C22E1627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C6893E-E516-EC89-8B05-5DEECDE27E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E791C-E8AC-73CB-F9C4-01D3699C705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B0D69-7914-A64D-ACD1-B04F3E2DF5A5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38AD30-E54D-AE63-260B-866183C460F5}"/>
              </a:ext>
            </a:extLst>
          </p:cNvPr>
          <p:cNvSpPr txBox="1"/>
          <p:nvPr/>
        </p:nvSpPr>
        <p:spPr>
          <a:xfrm>
            <a:off x="508000" y="317500"/>
            <a:ext cx="11176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600" b="1">
                <a:solidFill>
                  <a:srgbClr val="D4AF37"/>
                </a:solidFill>
                <a:latin typeface="Segoe UI" panose="020B0502040204020203" pitchFamily="34" charset="0"/>
              </a:rPr>
              <a:t>SECURITY &amp; POWER BI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9D2D57-BE07-6B0D-AA6F-84FA3594EB78}"/>
              </a:ext>
            </a:extLst>
          </p:cNvPr>
          <p:cNvSpPr/>
          <p:nvPr/>
        </p:nvSpPr>
        <p:spPr>
          <a:xfrm>
            <a:off x="508000" y="1016000"/>
            <a:ext cx="5334000" cy="2667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2246E-D64C-F275-EAF9-BFA5E095EACC}"/>
              </a:ext>
            </a:extLst>
          </p:cNvPr>
          <p:cNvSpPr/>
          <p:nvPr/>
        </p:nvSpPr>
        <p:spPr>
          <a:xfrm>
            <a:off x="508000" y="1016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7C6EE-7140-959D-E888-A5D66BD70599}"/>
              </a:ext>
            </a:extLst>
          </p:cNvPr>
          <p:cNvSpPr txBox="1"/>
          <p:nvPr/>
        </p:nvSpPr>
        <p:spPr>
          <a:xfrm>
            <a:off x="698500" y="12065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SECURITY TRIGGER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AC79D-955E-2A45-565D-16455AEEE3E2}"/>
              </a:ext>
            </a:extLst>
          </p:cNvPr>
          <p:cNvSpPr txBox="1"/>
          <p:nvPr/>
        </p:nvSpPr>
        <p:spPr>
          <a:xfrm>
            <a:off x="698500" y="1524000"/>
            <a:ext cx="4953000" cy="86177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TRG_PROJECT_SECURITY:
BEFORE INSERT/UPDATE/DELETE
Blocks DML on weekends and holidays
References Public_Holidays table
Raises ORA-20001 with secure message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D14079-8393-B007-20FC-2F70508B92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73500"/>
            <a:ext cx="5334000" cy="1397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AF265A-D8A7-6C68-545F-CD5A064E0C5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397500"/>
            <a:ext cx="5334000" cy="1270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87450D-95B6-7343-47BE-C2B96AADFC9A}"/>
              </a:ext>
            </a:extLst>
          </p:cNvPr>
          <p:cNvSpPr/>
          <p:nvPr/>
        </p:nvSpPr>
        <p:spPr>
          <a:xfrm>
            <a:off x="6350000" y="1016000"/>
            <a:ext cx="5334000" cy="1016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6BAA66-D25D-262D-46DB-278D28A0F516}"/>
              </a:ext>
            </a:extLst>
          </p:cNvPr>
          <p:cNvSpPr/>
          <p:nvPr/>
        </p:nvSpPr>
        <p:spPr>
          <a:xfrm>
            <a:off x="6350000" y="1016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F583C-BF44-EF0E-62C8-8FFB88DB31C7}"/>
              </a:ext>
            </a:extLst>
          </p:cNvPr>
          <p:cNvSpPr txBox="1"/>
          <p:nvPr/>
        </p:nvSpPr>
        <p:spPr>
          <a:xfrm>
            <a:off x="6540500" y="1181100"/>
            <a:ext cx="4953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DCDCE1"/>
                </a:solidFill>
                <a:latin typeface="Segoe UI" panose="020B0502040204020203" pitchFamily="34" charset="0"/>
              </a:rPr>
              <a:t>POWER BI DASHBOARD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28221A-2990-06DE-090C-93ABC711DA1C}"/>
              </a:ext>
            </a:extLst>
          </p:cNvPr>
          <p:cNvSpPr txBox="1"/>
          <p:nvPr/>
        </p:nvSpPr>
        <p:spPr>
          <a:xfrm>
            <a:off x="6540500" y="14986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Direct analytics channel from Oracle DB to Power BI. Real-time charts for expenditures, materials, labor.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8B240D-80F0-10B7-144F-5588A1EFCF8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222500"/>
            <a:ext cx="5334000" cy="304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2C90DD7-36E6-04D0-5015-77552A50221A}"/>
              </a:ext>
            </a:extLst>
          </p:cNvPr>
          <p:cNvSpPr/>
          <p:nvPr/>
        </p:nvSpPr>
        <p:spPr>
          <a:xfrm>
            <a:off x="6350000" y="5461000"/>
            <a:ext cx="5334000" cy="12065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1842AE-84F8-450F-B626-FB9FCD4CE334}"/>
              </a:ext>
            </a:extLst>
          </p:cNvPr>
          <p:cNvSpPr/>
          <p:nvPr/>
        </p:nvSpPr>
        <p:spPr>
          <a:xfrm>
            <a:off x="6350000" y="5461000"/>
            <a:ext cx="5334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CC406-81F1-A32C-057B-E4AECB401A88}"/>
              </a:ext>
            </a:extLst>
          </p:cNvPr>
          <p:cNvSpPr txBox="1"/>
          <p:nvPr/>
        </p:nvSpPr>
        <p:spPr>
          <a:xfrm>
            <a:off x="6540500" y="5613400"/>
            <a:ext cx="4953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DCDCE1"/>
                </a:solidFill>
                <a:latin typeface="Segoe UI" panose="020B0502040204020203" pitchFamily="34" charset="0"/>
              </a:rPr>
              <a:t>ALL DATABASE OBJECTS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034B2-428E-C086-975D-13FF6CB2C804}"/>
              </a:ext>
            </a:extLst>
          </p:cNvPr>
          <p:cNvSpPr txBox="1"/>
          <p:nvPr/>
        </p:nvSpPr>
        <p:spPr>
          <a:xfrm>
            <a:off x="6540500" y="5842000"/>
            <a:ext cx="4953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Tables, views, triggers, packages all compiled successfully under CONSTRUCTION_32407 schema</a:t>
            </a:r>
          </a:p>
        </p:txBody>
      </p:sp>
    </p:spTree>
    <p:extLst>
      <p:ext uri="{BB962C8B-B14F-4D97-AF65-F5344CB8AC3E}">
        <p14:creationId xmlns:p14="http://schemas.microsoft.com/office/powerpoint/2010/main" val="106359858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F3A997-3415-93F1-D651-E2B8E6010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18F91-907C-B0FA-AC94-58E2DD8C60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9F823-F137-D9C1-491B-45A146F0C12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A244F-4C67-D7C2-295F-2E8D94428C33}"/>
              </a:ext>
            </a:extLst>
          </p:cNvPr>
          <p:cNvSpPr/>
          <p:nvPr/>
        </p:nvSpPr>
        <p:spPr>
          <a:xfrm>
            <a:off x="76200" y="0"/>
            <a:ext cx="121158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C29743-F54D-F8F9-F976-D26CC440886C}"/>
              </a:ext>
            </a:extLst>
          </p:cNvPr>
          <p:cNvSpPr/>
          <p:nvPr/>
        </p:nvSpPr>
        <p:spPr>
          <a:xfrm>
            <a:off x="0" y="6832600"/>
            <a:ext cx="121920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0B122-9377-80E1-CB2F-14DEC4D8DD5F}"/>
              </a:ext>
            </a:extLst>
          </p:cNvPr>
          <p:cNvSpPr txBox="1"/>
          <p:nvPr/>
        </p:nvSpPr>
        <p:spPr>
          <a:xfrm>
            <a:off x="508000" y="381000"/>
            <a:ext cx="11176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 b="1">
                <a:solidFill>
                  <a:srgbClr val="D4AF37"/>
                </a:solidFill>
                <a:latin typeface="Segoe UI" panose="020B0502040204020203" pitchFamily="34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91442A-3B22-4D1A-407D-63E071E9D00D}"/>
              </a:ext>
            </a:extLst>
          </p:cNvPr>
          <p:cNvSpPr/>
          <p:nvPr/>
        </p:nvSpPr>
        <p:spPr>
          <a:xfrm>
            <a:off x="508000" y="1143000"/>
            <a:ext cx="3556000" cy="3556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6CF10D-188A-4006-38EC-5083E57F0990}"/>
              </a:ext>
            </a:extLst>
          </p:cNvPr>
          <p:cNvSpPr/>
          <p:nvPr/>
        </p:nvSpPr>
        <p:spPr>
          <a:xfrm>
            <a:off x="508000" y="1143000"/>
            <a:ext cx="3556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902DE-357A-8879-BD0F-0D72E4D4492F}"/>
              </a:ext>
            </a:extLst>
          </p:cNvPr>
          <p:cNvSpPr txBox="1"/>
          <p:nvPr/>
        </p:nvSpPr>
        <p:spPr>
          <a:xfrm>
            <a:off x="698500" y="1333500"/>
            <a:ext cx="317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ACHIEVEMENTS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9B043B-17FB-7CB3-2D33-8874DC1029B7}"/>
              </a:ext>
            </a:extLst>
          </p:cNvPr>
          <p:cNvSpPr txBox="1"/>
          <p:nvPr/>
        </p:nvSpPr>
        <p:spPr>
          <a:xfrm>
            <a:off x="698500" y="1714500"/>
            <a:ext cx="3175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3NF normalized design
10 tables with full integrity
Automated PL/SQL packages
Enterprise security controls
Audit trail system
Power BI dashboard
37 verification screenshots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9C4D1-EFF7-12EF-72C7-A0CDB7B40C93}"/>
              </a:ext>
            </a:extLst>
          </p:cNvPr>
          <p:cNvSpPr/>
          <p:nvPr/>
        </p:nvSpPr>
        <p:spPr>
          <a:xfrm>
            <a:off x="4318000" y="1143000"/>
            <a:ext cx="3556000" cy="3556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6480A9-59C1-4D93-748F-4F6735FCE05D}"/>
              </a:ext>
            </a:extLst>
          </p:cNvPr>
          <p:cNvSpPr/>
          <p:nvPr/>
        </p:nvSpPr>
        <p:spPr>
          <a:xfrm>
            <a:off x="4318000" y="1143000"/>
            <a:ext cx="3556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18A539-C9E9-4802-F812-588048793246}"/>
              </a:ext>
            </a:extLst>
          </p:cNvPr>
          <p:cNvSpPr txBox="1"/>
          <p:nvPr/>
        </p:nvSpPr>
        <p:spPr>
          <a:xfrm>
            <a:off x="4508500" y="1333500"/>
            <a:ext cx="317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LESSONS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424E90-FDAE-A0E1-750E-FBED0953477C}"/>
              </a:ext>
            </a:extLst>
          </p:cNvPr>
          <p:cNvSpPr txBox="1"/>
          <p:nvPr/>
        </p:nvSpPr>
        <p:spPr>
          <a:xfrm>
            <a:off x="4508500" y="1714500"/>
            <a:ext cx="3175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Oracle DB architecture depth
PL/SQL procedural mastery
Trigger design patterns
Data normalization practice
BI tool integration
GitHub version control
Technical documentation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296026-F2A0-67EE-C260-ECEF64B0262C}"/>
              </a:ext>
            </a:extLst>
          </p:cNvPr>
          <p:cNvSpPr/>
          <p:nvPr/>
        </p:nvSpPr>
        <p:spPr>
          <a:xfrm>
            <a:off x="8128000" y="1143000"/>
            <a:ext cx="3556000" cy="3556000"/>
          </a:xfrm>
          <a:prstGeom prst="rect">
            <a:avLst/>
          </a:prstGeom>
          <a:solidFill>
            <a:srgbClr val="1916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EE3301-8886-7690-B2BD-CAC973E87857}"/>
              </a:ext>
            </a:extLst>
          </p:cNvPr>
          <p:cNvSpPr/>
          <p:nvPr/>
        </p:nvSpPr>
        <p:spPr>
          <a:xfrm>
            <a:off x="8128000" y="1143000"/>
            <a:ext cx="3556000" cy="381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B2D20-58A8-8316-C2A2-08EFC25EB4D1}"/>
              </a:ext>
            </a:extLst>
          </p:cNvPr>
          <p:cNvSpPr txBox="1"/>
          <p:nvPr/>
        </p:nvSpPr>
        <p:spPr>
          <a:xfrm>
            <a:off x="8318500" y="1333500"/>
            <a:ext cx="317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>
                <a:solidFill>
                  <a:srgbClr val="DCDCE1"/>
                </a:solidFill>
                <a:latin typeface="Segoe UI" panose="020B0502040204020203" pitchFamily="34" charset="0"/>
              </a:rPr>
              <a:t>FUTURE IMPROVEMENTS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ABA57-402A-C444-9754-9E2AF69533CA}"/>
              </a:ext>
            </a:extLst>
          </p:cNvPr>
          <p:cNvSpPr txBox="1"/>
          <p:nvPr/>
        </p:nvSpPr>
        <p:spPr>
          <a:xfrm>
            <a:off x="8318500" y="1714500"/>
            <a:ext cx="3175000" cy="116955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D2B982"/>
                </a:solidFill>
                <a:latin typeface="Segoe UI" panose="020B0502040204020203" pitchFamily="34" charset="0"/>
              </a:rPr>
              <a:t>Web application interface
Oracle APEX deployment
Role-based access control
Email notifications
Mobile support
PDF report generation
Predictive analytics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F27B87-5BD7-FC1E-982E-1F345ABB4E5F}"/>
              </a:ext>
            </a:extLst>
          </p:cNvPr>
          <p:cNvSpPr/>
          <p:nvPr/>
        </p:nvSpPr>
        <p:spPr>
          <a:xfrm>
            <a:off x="508000" y="4953000"/>
            <a:ext cx="11176000" cy="1651000"/>
          </a:xfrm>
          <a:prstGeom prst="rect">
            <a:avLst/>
          </a:prstGeom>
          <a:solidFill>
            <a:srgbClr val="0A20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C24679-3ED2-8E09-5706-F8C799F6ED2B}"/>
              </a:ext>
            </a:extLst>
          </p:cNvPr>
          <p:cNvSpPr/>
          <p:nvPr/>
        </p:nvSpPr>
        <p:spPr>
          <a:xfrm>
            <a:off x="508000" y="4953000"/>
            <a:ext cx="11176000" cy="25400"/>
          </a:xfrm>
          <a:prstGeom prst="rect">
            <a:avLst/>
          </a:prstGeom>
          <a:solidFill>
            <a:srgbClr val="D4AF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793B8-1A7F-99DF-1691-B7E3F7389870}"/>
              </a:ext>
            </a:extLst>
          </p:cNvPr>
          <p:cNvSpPr txBox="1"/>
          <p:nvPr/>
        </p:nvSpPr>
        <p:spPr>
          <a:xfrm>
            <a:off x="762000" y="51435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200" b="1" dirty="0">
                <a:solidFill>
                  <a:srgbClr val="D4AF37"/>
                </a:solidFill>
                <a:latin typeface="Segoe UI" panose="020B0502040204020203" pitchFamily="34" charset="0"/>
              </a:rPr>
              <a:t>THANK YOU FOR LISTENING.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F80294-B4C9-812E-A335-922A192D658E}"/>
              </a:ext>
            </a:extLst>
          </p:cNvPr>
          <p:cNvSpPr txBox="1"/>
          <p:nvPr/>
        </p:nvSpPr>
        <p:spPr>
          <a:xfrm>
            <a:off x="762000" y="5689600"/>
            <a:ext cx="1066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dirty="0">
                <a:solidFill>
                  <a:srgbClr val="D2B982"/>
                </a:solidFill>
                <a:latin typeface="Segoe UI" panose="020B0502040204020203" pitchFamily="34" charset="0"/>
              </a:rPr>
              <a:t>MOHANAD MIRGHANI ALI  |  32407/2025  |  CONSTRUCTION_32407  |  UNILAK</a:t>
            </a:r>
          </a:p>
        </p:txBody>
      </p:sp>
    </p:spTree>
    <p:extLst>
      <p:ext uri="{BB962C8B-B14F-4D97-AF65-F5344CB8AC3E}">
        <p14:creationId xmlns:p14="http://schemas.microsoft.com/office/powerpoint/2010/main" val="106668398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676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mohanad ali</dc:creator>
  <cp:lastModifiedBy>mohanad ali</cp:lastModifiedBy>
  <cp:revision>1</cp:revision>
  <dcterms:created xsi:type="dcterms:W3CDTF">2026-07-14T20:14:46Z</dcterms:created>
  <dcterms:modified xsi:type="dcterms:W3CDTF">2026-07-14T20:25:10Z</dcterms:modified>
</cp:coreProperties>
</file>